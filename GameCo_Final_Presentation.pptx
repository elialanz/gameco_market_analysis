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62" r:id="rId3"/>
    <p:sldId id="264" r:id="rId4"/>
    <p:sldId id="265" r:id="rId5"/>
    <p:sldId id="266" r:id="rId6"/>
    <p:sldId id="267" r:id="rId7"/>
    <p:sldId id="268" r:id="rId8"/>
    <p:sldId id="261" r:id="rId9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8867B-A224-454E-9C4F-13FA9AD65BE8}" type="datetimeFigureOut">
              <a:rPr lang="en-IT" smtClean="0"/>
              <a:t>05/03/25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565E-B193-9F41-8BFE-0F303DDAD53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48205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8B33-0AA1-7B21-082B-C5B5AAC18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78B4E-B917-B0B1-06BF-54ED5008D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4BA07-82BA-38E6-932E-55F11FA16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DD14-4287-F444-8391-0AC7F04BDC00}" type="datetimeFigureOut">
              <a:rPr lang="en-IT" smtClean="0"/>
              <a:t>05/03/25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AAE75-B9B0-559F-9670-285E6AAA4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59103-EA42-7168-56DB-6F70856D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857EA-95B8-9841-A454-592C25B68E2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60935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FFA76-905D-44CF-9DC1-B0057664E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06C93-2BB5-0CAA-EA76-CB0B2122F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ED784-014C-B963-8FA2-3B53CA01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DD14-4287-F444-8391-0AC7F04BDC00}" type="datetimeFigureOut">
              <a:rPr lang="en-IT" smtClean="0"/>
              <a:t>05/03/25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A4B6B-88F8-4696-E259-69634754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E0036-3C01-9F85-5155-8A85C936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857EA-95B8-9841-A454-592C25B68E2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30146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6AEC4-E0AE-E197-4538-E374BAA08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FEDE3-310A-55B1-3702-C21A22A6F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92A00-6778-1606-86FC-BDB193ED8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DD14-4287-F444-8391-0AC7F04BDC00}" type="datetimeFigureOut">
              <a:rPr lang="en-IT" smtClean="0"/>
              <a:t>05/03/25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1E15-2130-E9E0-E45D-59E95779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4E753-2BB7-9685-E8B5-08796CDF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857EA-95B8-9841-A454-592C25B68E2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0398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98169-3D4C-CCF0-39B9-C785387E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BB629-A241-1D84-D14D-4007F69B9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A977A-3E78-A055-7FAD-9B8D2A5D6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0D0B6-638B-E2EA-05C4-B4AB693C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DD14-4287-F444-8391-0AC7F04BDC00}" type="datetimeFigureOut">
              <a:rPr lang="en-IT" smtClean="0"/>
              <a:t>05/03/25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1D3A3-6DE3-D7A9-5A74-F1C33724F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790E0-91F4-DF48-DDCB-61DBBED85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857EA-95B8-9841-A454-592C25B68E2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4218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51C89-4583-1281-1607-AF9B612F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0C025-F978-8574-E5B6-559A98D75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B6902-66F1-80B9-8A99-E5BBF06ED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FBE44-A1B5-1A44-C1AA-72C0CA88A1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42A501-5D69-27D7-ECD2-63B38C53A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6291E-E62E-55A8-8B59-81FC978B4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DD14-4287-F444-8391-0AC7F04BDC00}" type="datetimeFigureOut">
              <a:rPr lang="en-IT" smtClean="0"/>
              <a:t>05/03/25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C5DBFB-70F5-6239-BB84-9DF768593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4C045E-4038-4805-30AE-018B50817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857EA-95B8-9841-A454-592C25B68E2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0837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34219-17D5-8E76-FA89-1326CBBB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E5A46F-61B2-7F79-6FB4-056DE2FB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DD14-4287-F444-8391-0AC7F04BDC00}" type="datetimeFigureOut">
              <a:rPr lang="en-IT" smtClean="0"/>
              <a:t>05/03/25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A5EC6-C27D-B417-5D96-3CAAD9DB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CCBBC-9B15-4826-AAD6-DFD7C833F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857EA-95B8-9841-A454-592C25B68E2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67834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5DB6FB-984C-F5C4-CF59-FFD561B51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DD14-4287-F444-8391-0AC7F04BDC00}" type="datetimeFigureOut">
              <a:rPr lang="en-IT" smtClean="0"/>
              <a:t>05/03/25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E88B96-60A9-98F9-FF33-6E40C49CB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AC1A7-F5C7-40E6-64E9-68A537ED7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857EA-95B8-9841-A454-592C25B68E2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27596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9A12-F5EC-801D-849B-DB15BA1D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4A5D4-C461-CD86-7DDC-738F1922F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A0BFC-CCAE-B09F-73FB-97F1248AA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6F794-6BCC-FA17-13C4-DCDCB88E1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DD14-4287-F444-8391-0AC7F04BDC00}" type="datetimeFigureOut">
              <a:rPr lang="en-IT" smtClean="0"/>
              <a:t>05/03/25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A9768-BA73-60A6-5DA9-893AD829C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28172-D221-D23F-34F9-B9F177A8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857EA-95B8-9841-A454-592C25B68E2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8387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D025-4497-4948-3AAD-8CDB51E1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EBB376-B707-42D4-C98F-8AF4FEBDBF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57ACB-9AA6-92F2-EC8D-698C1DB79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E44C7-8FBF-7D07-888B-A78E659F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DD14-4287-F444-8391-0AC7F04BDC00}" type="datetimeFigureOut">
              <a:rPr lang="en-IT" smtClean="0"/>
              <a:t>05/03/25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5F5FF-0445-1DF3-3CA6-7134DB0BC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09F25-D6A7-AD84-3ED0-58ED5EA55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857EA-95B8-9841-A454-592C25B68E2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16087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7B41F-9D37-8E3B-46A7-6AF599510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C61EC-F6CC-1451-9A8A-97FCBA265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23653-8340-FE98-A431-16B8982C1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DD14-4287-F444-8391-0AC7F04BDC00}" type="datetimeFigureOut">
              <a:rPr lang="en-IT" smtClean="0"/>
              <a:t>05/03/25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4652D-F8D4-B589-4C22-F0B85FC4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C7A27-298F-56DF-3052-B1DB539A2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857EA-95B8-9841-A454-592C25B68E2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49857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C214FE-A431-FDB4-3502-48FFA70FD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22CCC-3428-203E-B4E2-C1A83D06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39EE4-D581-B7B3-9B65-5F9870B5B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DD14-4287-F444-8391-0AC7F04BDC00}" type="datetimeFigureOut">
              <a:rPr lang="en-IT" smtClean="0"/>
              <a:t>05/03/25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98328-9CED-7052-5E10-3C63FEDC1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7ACB1-B1B0-0729-D14E-DA869DC2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857EA-95B8-9841-A454-592C25B68E2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33604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460B2E-37CC-FAB1-B4CA-BC0C6D38F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89308-A0F2-D2FB-8792-77C0176BD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1CE41-5D1A-E649-ABC5-2125609265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FDD14-4287-F444-8391-0AC7F04BDC00}" type="datetimeFigureOut">
              <a:rPr lang="en-IT" smtClean="0"/>
              <a:t>05/03/25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B4F24-AA57-0DB0-E2A8-B68EB3152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AA69F-A324-4915-222D-BE0C9B8F0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857EA-95B8-9841-A454-592C25B68E2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3542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528FF-EAF8-AAF0-29C4-CD66EB97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006"/>
            <a:ext cx="10515600" cy="669410"/>
          </a:xfrm>
        </p:spPr>
        <p:txBody>
          <a:bodyPr>
            <a:noAutofit/>
          </a:bodyPr>
          <a:lstStyle/>
          <a:p>
            <a:pPr algn="ctr"/>
            <a:r>
              <a:rPr lang="en-IT" b="1" dirty="0">
                <a:solidFill>
                  <a:schemeClr val="accent6">
                    <a:lumMod val="50000"/>
                  </a:schemeClr>
                </a:solidFill>
              </a:rPr>
              <a:t>GameCo Sales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F2420-DCA5-AACB-85C0-C2BB456A7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662"/>
            <a:ext cx="10515600" cy="5120059"/>
          </a:xfrm>
        </p:spPr>
        <p:txBody>
          <a:bodyPr/>
          <a:lstStyle/>
          <a:p>
            <a:pPr marL="0" indent="0" algn="ctr">
              <a:buNone/>
            </a:pPr>
            <a:r>
              <a:rPr lang="en-IT" sz="2400" dirty="0"/>
              <a:t>GameCo is a company that operates in the Videogames release and sales Worldwide since the year 1980.</a:t>
            </a:r>
          </a:p>
          <a:p>
            <a:pPr marL="0" indent="0" algn="ctr">
              <a:buNone/>
            </a:pPr>
            <a:endParaRPr lang="en-IT" sz="2400" dirty="0"/>
          </a:p>
          <a:p>
            <a:pPr marL="0" indent="0" algn="ctr">
              <a:buNone/>
            </a:pPr>
            <a:r>
              <a:rPr lang="en-IT" sz="2400" dirty="0"/>
              <a:t>The Data </a:t>
            </a:r>
            <a:r>
              <a:rPr lang="en-GB" sz="2400" dirty="0"/>
              <a:t>from which this Analysis is been conducted is been collected from </a:t>
            </a:r>
            <a:r>
              <a:rPr lang="en-GB" sz="2400" dirty="0" err="1"/>
              <a:t>GameCo</a:t>
            </a:r>
            <a:r>
              <a:rPr lang="en-GB" sz="2400" dirty="0"/>
              <a:t> and different regional partners from year 1980 to 2020.</a:t>
            </a:r>
          </a:p>
          <a:p>
            <a:pPr marL="0" indent="0" algn="ctr">
              <a:buNone/>
            </a:pPr>
            <a:endParaRPr lang="en-GB" sz="2400" dirty="0"/>
          </a:p>
          <a:p>
            <a:pPr marL="0" indent="0" algn="ctr">
              <a:buNone/>
            </a:pPr>
            <a:r>
              <a:rPr lang="en-GB" sz="2400" dirty="0"/>
              <a:t>We are conducting an analysis to give insights for the coming year 2017 and beyond, in order to properly address Marketing Budget for every Regional Market.</a:t>
            </a:r>
          </a:p>
          <a:p>
            <a:pPr marL="0" indent="0" algn="ctr">
              <a:buNone/>
            </a:pPr>
            <a:endParaRPr lang="en-GB" sz="2400" dirty="0"/>
          </a:p>
          <a:p>
            <a:pPr marL="0" indent="0" algn="ctr">
              <a:buNone/>
            </a:pPr>
            <a:r>
              <a:rPr lang="en-GB" sz="2400" b="0" i="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GameCo’s</a:t>
            </a:r>
            <a:r>
              <a:rPr lang="en-GB" sz="2400" b="0" i="0" dirty="0"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current understanding about sales for the various geographic regions: Executives are assuming that Sales have stayed the same over time.</a:t>
            </a:r>
          </a:p>
          <a:p>
            <a:pPr marL="0" indent="0" algn="ctr">
              <a:buNone/>
            </a:pPr>
            <a:endParaRPr lang="en-IT" sz="2400" dirty="0"/>
          </a:p>
          <a:p>
            <a:pPr marL="0" indent="0" algn="ctr">
              <a:buNone/>
            </a:pPr>
            <a:endParaRPr lang="en-IT" dirty="0"/>
          </a:p>
          <a:p>
            <a:pPr marL="0" indent="0" algn="ctr">
              <a:buNone/>
            </a:pPr>
            <a:endParaRPr lang="en-IT" dirty="0"/>
          </a:p>
          <a:p>
            <a:pPr marL="0" indent="0" algn="ctr">
              <a:buNone/>
            </a:pPr>
            <a:endParaRPr lang="en-IT" dirty="0"/>
          </a:p>
          <a:p>
            <a:pPr marL="0" indent="0" algn="ctr">
              <a:buNone/>
            </a:pP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69060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showing sales in different colors&#10;&#10;AI-generated content may be incorrect.">
            <a:extLst>
              <a:ext uri="{FF2B5EF4-FFF2-40B4-BE49-F238E27FC236}">
                <a16:creationId xmlns:a16="http://schemas.microsoft.com/office/drawing/2014/main" id="{7FA662D3-AEDE-D211-985C-B110AB43E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612" y="863308"/>
            <a:ext cx="6178774" cy="36763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9C16B8-0430-B348-BA01-8E0B3BF88813}"/>
              </a:ext>
            </a:extLst>
          </p:cNvPr>
          <p:cNvSpPr txBox="1"/>
          <p:nvPr/>
        </p:nvSpPr>
        <p:spPr>
          <a:xfrm>
            <a:off x="2471449" y="118753"/>
            <a:ext cx="7249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400" b="1" dirty="0">
                <a:solidFill>
                  <a:schemeClr val="accent6">
                    <a:lumMod val="50000"/>
                  </a:schemeClr>
                </a:solidFill>
                <a:latin typeface="Eurostile" panose="020B0504020202050204" pitchFamily="34" charset="77"/>
              </a:rPr>
              <a:t>Year 2011-2015 Regional Markets Sales Proportion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D2FB4-4BA7-62CB-60F7-590923E69D06}"/>
              </a:ext>
            </a:extLst>
          </p:cNvPr>
          <p:cNvSpPr txBox="1"/>
          <p:nvPr/>
        </p:nvSpPr>
        <p:spPr>
          <a:xfrm>
            <a:off x="-1" y="4822532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0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Chart Reflects Data on </a:t>
            </a:r>
            <a:r>
              <a:rPr lang="en-GB" sz="1800" b="0" i="0" dirty="0" err="1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GameCo</a:t>
            </a:r>
            <a:r>
              <a:rPr lang="en-GB" sz="1800" b="0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Yearly Regional Sales from 2011 to 2015</a:t>
            </a:r>
          </a:p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GB" sz="1800" b="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data suggest that in fact there is been a significant change in the proportions of Regional Market Sales.</a:t>
            </a:r>
          </a:p>
          <a:p>
            <a:pPr marL="0" indent="0" algn="ctr">
              <a:buNone/>
            </a:pP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While Secondary Markets have slightly increased (Japan and Smaller Markets);</a:t>
            </a:r>
          </a:p>
          <a:p>
            <a:pPr marL="0" indent="0" algn="ctr">
              <a:buNone/>
            </a:pP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North American Sales have decreased compared to European Market.</a:t>
            </a:r>
          </a:p>
          <a:p>
            <a:pPr marL="0" indent="0" algn="ctr">
              <a:buNone/>
            </a:pP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These two markets are now levelled up at around 40% of Global Sales.</a:t>
            </a:r>
            <a:endParaRPr lang="en-GB" sz="1800" b="0" i="0" dirty="0">
              <a:solidFill>
                <a:srgbClr val="00206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368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2E0591-1C7B-0A0F-68D6-E70F637BB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285"/>
          </a:xfrm>
        </p:spPr>
        <p:txBody>
          <a:bodyPr>
            <a:normAutofit/>
          </a:bodyPr>
          <a:lstStyle/>
          <a:p>
            <a:pPr algn="ctr"/>
            <a:r>
              <a:rPr lang="en-IT" sz="2400" b="1" dirty="0">
                <a:highlight>
                  <a:srgbClr val="FFFF00"/>
                </a:highlight>
                <a:latin typeface="Eurostile" panose="020B0504020202050204" pitchFamily="34" charset="77"/>
              </a:rPr>
              <a:t>- Year 2016 Sales Insights -</a:t>
            </a:r>
          </a:p>
        </p:txBody>
      </p:sp>
      <p:pic>
        <p:nvPicPr>
          <p:cNvPr id="6" name="Picture 5" descr="A close-up of a graph&#10;&#10;AI-generated content may be incorrect.">
            <a:extLst>
              <a:ext uri="{FF2B5EF4-FFF2-40B4-BE49-F238E27FC236}">
                <a16:creationId xmlns:a16="http://schemas.microsoft.com/office/drawing/2014/main" id="{54F1144F-C46C-BAED-CB83-81A8A2E05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60" y="854890"/>
            <a:ext cx="5610140" cy="21646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46539D-3D50-F9AD-9866-F54FA3A01E58}"/>
              </a:ext>
            </a:extLst>
          </p:cNvPr>
          <p:cNvSpPr txBox="1"/>
          <p:nvPr/>
        </p:nvSpPr>
        <p:spPr>
          <a:xfrm>
            <a:off x="6476010" y="1290869"/>
            <a:ext cx="5898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/>
              <a:t>European Market had the largest sales figures,</a:t>
            </a:r>
          </a:p>
          <a:p>
            <a:r>
              <a:rPr lang="en-IT" dirty="0"/>
              <a:t>followed by North America</a:t>
            </a:r>
            <a:endParaRPr lang="en-IT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8" name="Picture 7" descr="A graph of sales by platform&#10;&#10;AI-generated content may be incorrect.">
            <a:extLst>
              <a:ext uri="{FF2B5EF4-FFF2-40B4-BE49-F238E27FC236}">
                <a16:creationId xmlns:a16="http://schemas.microsoft.com/office/drawing/2014/main" id="{F6443E77-A63C-1591-22E4-2DF3865D3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010" y="3303637"/>
            <a:ext cx="5114628" cy="32367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8BFB9A-D25C-7ADD-D80B-CECB3662860A}"/>
              </a:ext>
            </a:extLst>
          </p:cNvPr>
          <p:cNvSpPr txBox="1"/>
          <p:nvPr/>
        </p:nvSpPr>
        <p:spPr>
          <a:xfrm>
            <a:off x="1502145" y="4183370"/>
            <a:ext cx="41696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T" dirty="0">
                <a:solidFill>
                  <a:schemeClr val="accent6">
                    <a:lumMod val="50000"/>
                  </a:schemeClr>
                </a:solidFill>
              </a:rPr>
              <a:t>PS4 is the platform where most titles were sold, followed by X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o</a:t>
            </a:r>
            <a:r>
              <a:rPr lang="en-IT" dirty="0">
                <a:solidFill>
                  <a:schemeClr val="accent6">
                    <a:lumMod val="50000"/>
                  </a:schemeClr>
                </a:solidFill>
              </a:rPr>
              <a:t>ne</a:t>
            </a:r>
          </a:p>
          <a:p>
            <a:endParaRPr lang="en-IT" dirty="0"/>
          </a:p>
          <a:p>
            <a:pPr algn="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3DS and PSV are the plaftorms with most sales in the Japanese Market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1F2548-11AC-B251-2C9A-564846462DB3}"/>
              </a:ext>
            </a:extLst>
          </p:cNvPr>
          <p:cNvCxnSpPr>
            <a:cxnSpLocks/>
          </p:cNvCxnSpPr>
          <p:nvPr/>
        </p:nvCxnSpPr>
        <p:spPr>
          <a:xfrm>
            <a:off x="201654" y="3173475"/>
            <a:ext cx="116771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768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89E0E6-1D98-4CA5-58BC-4E25EAFAEC9E}"/>
              </a:ext>
            </a:extLst>
          </p:cNvPr>
          <p:cNvSpPr txBox="1"/>
          <p:nvPr/>
        </p:nvSpPr>
        <p:spPr>
          <a:xfrm>
            <a:off x="3046971" y="155145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T" sz="1800" b="1" dirty="0">
                <a:highlight>
                  <a:srgbClr val="FFFF00"/>
                </a:highlight>
                <a:latin typeface="Eurostile" panose="020B0504020202050204" pitchFamily="34" charset="77"/>
              </a:rPr>
              <a:t>- Genres In Depth Global Market Analysis -</a:t>
            </a:r>
            <a:endParaRPr lang="en-IT" dirty="0"/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2C7CFF80-9FFE-AFAC-3D52-C5704E747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21" y="808449"/>
            <a:ext cx="5228057" cy="3909756"/>
          </a:xfrm>
          <a:prstGeom prst="rect">
            <a:avLst/>
          </a:prstGeom>
        </p:spPr>
      </p:pic>
      <p:pic>
        <p:nvPicPr>
          <p:cNvPr id="9" name="Picture 8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27A03965-C183-557B-4373-68DF9B04E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826" y="872480"/>
            <a:ext cx="4359704" cy="33403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36D5EC-6698-998A-5BFB-E072810B25FE}"/>
              </a:ext>
            </a:extLst>
          </p:cNvPr>
          <p:cNvSpPr txBox="1"/>
          <p:nvPr/>
        </p:nvSpPr>
        <p:spPr>
          <a:xfrm>
            <a:off x="0" y="5019090"/>
            <a:ext cx="12191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1600" dirty="0"/>
              <a:t>Action Videogames were considerably the most released during the year</a:t>
            </a:r>
          </a:p>
          <a:p>
            <a:pPr algn="ctr"/>
            <a:endParaRPr lang="en-IT" sz="1600" dirty="0"/>
          </a:p>
          <a:p>
            <a:pPr algn="ctr"/>
            <a:r>
              <a:rPr lang="en-IT" sz="1600" dirty="0"/>
              <a:t>It is important to note that when considering the average revenue by genre, </a:t>
            </a:r>
            <a:r>
              <a:rPr lang="en-GB" sz="1600" dirty="0"/>
              <a:t>A</a:t>
            </a:r>
            <a:r>
              <a:rPr lang="en-IT" sz="1600" dirty="0"/>
              <a:t>ction videogames had a revenue of 0.17 millions, while Shooter videgames had an average revenue of 0.57, with only 32 titles released.</a:t>
            </a:r>
          </a:p>
          <a:p>
            <a:pPr algn="ctr"/>
            <a:endParaRPr lang="en-IT" sz="1600" dirty="0"/>
          </a:p>
          <a:p>
            <a:pPr algn="ctr"/>
            <a:r>
              <a:rPr lang="en-IT" sz="1600" dirty="0"/>
              <a:t>We can then assume that Shooter Videogames make more revenue compared to Action Genre.</a:t>
            </a:r>
          </a:p>
        </p:txBody>
      </p:sp>
    </p:spTree>
    <p:extLst>
      <p:ext uri="{BB962C8B-B14F-4D97-AF65-F5344CB8AC3E}">
        <p14:creationId xmlns:p14="http://schemas.microsoft.com/office/powerpoint/2010/main" val="3200183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E9ACAE-13FC-3490-3BEE-313F6D206A45}"/>
              </a:ext>
            </a:extLst>
          </p:cNvPr>
          <p:cNvSpPr txBox="1"/>
          <p:nvPr/>
        </p:nvSpPr>
        <p:spPr>
          <a:xfrm>
            <a:off x="3046971" y="155145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T" sz="1800" b="1" dirty="0">
                <a:highlight>
                  <a:srgbClr val="FFFF00"/>
                </a:highlight>
                <a:latin typeface="Eurostile" panose="020B0504020202050204" pitchFamily="34" charset="77"/>
              </a:rPr>
              <a:t>- Regional Markets Genres Sales Proportions -</a:t>
            </a:r>
            <a:endParaRPr lang="en-IT" dirty="0"/>
          </a:p>
        </p:txBody>
      </p:sp>
      <p:pic>
        <p:nvPicPr>
          <p:cNvPr id="6" name="Picture 5" descr="A graph of sales&#10;&#10;AI-generated content may be incorrect.">
            <a:extLst>
              <a:ext uri="{FF2B5EF4-FFF2-40B4-BE49-F238E27FC236}">
                <a16:creationId xmlns:a16="http://schemas.microsoft.com/office/drawing/2014/main" id="{5A1D46B2-EC2C-75CF-3E3B-052B9CA8D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26" y="1001529"/>
            <a:ext cx="3634143" cy="2816707"/>
          </a:xfrm>
          <a:prstGeom prst="rect">
            <a:avLst/>
          </a:prstGeom>
        </p:spPr>
      </p:pic>
      <p:pic>
        <p:nvPicPr>
          <p:cNvPr id="8" name="Picture 7" descr="A graph of sales&#10;&#10;AI-generated content may be incorrect.">
            <a:extLst>
              <a:ext uri="{FF2B5EF4-FFF2-40B4-BE49-F238E27FC236}">
                <a16:creationId xmlns:a16="http://schemas.microsoft.com/office/drawing/2014/main" id="{0A958518-783D-5EFD-774B-8A5D1753E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685" y="1001529"/>
            <a:ext cx="3551287" cy="2816706"/>
          </a:xfrm>
          <a:prstGeom prst="rect">
            <a:avLst/>
          </a:prstGeom>
        </p:spPr>
      </p:pic>
      <p:pic>
        <p:nvPicPr>
          <p:cNvPr id="12" name="Picture 11" descr="A graph of sales&#10;&#10;AI-generated content may be incorrect.">
            <a:extLst>
              <a:ext uri="{FF2B5EF4-FFF2-40B4-BE49-F238E27FC236}">
                <a16:creationId xmlns:a16="http://schemas.microsoft.com/office/drawing/2014/main" id="{73F05F52-C22B-8206-C681-674269E93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088" y="1001529"/>
            <a:ext cx="3634142" cy="28167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23783C-EB2B-22B7-E40C-64CE17C220C8}"/>
              </a:ext>
            </a:extLst>
          </p:cNvPr>
          <p:cNvSpPr txBox="1"/>
          <p:nvPr/>
        </p:nvSpPr>
        <p:spPr>
          <a:xfrm>
            <a:off x="1072978" y="4394531"/>
            <a:ext cx="100460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/>
              <a:t>North America, Europe and Smaller Markets seems to have the same trend in Genre popularity</a:t>
            </a:r>
          </a:p>
          <a:p>
            <a:endParaRPr lang="en-IT" dirty="0"/>
          </a:p>
          <a:p>
            <a:pPr algn="ctr"/>
            <a:r>
              <a:rPr lang="en-IT" dirty="0"/>
              <a:t>Shooter is the Genre with most Sales in these Markets, with a percentage of around 30%</a:t>
            </a:r>
          </a:p>
          <a:p>
            <a:endParaRPr lang="en-IT" dirty="0"/>
          </a:p>
          <a:p>
            <a:pPr algn="ctr"/>
            <a:r>
              <a:rPr lang="en-IT" dirty="0"/>
              <a:t>Action and Sports are the following two Genres  with most Sales.</a:t>
            </a:r>
          </a:p>
          <a:p>
            <a:pPr algn="ctr"/>
            <a:endParaRPr lang="en-IT" dirty="0"/>
          </a:p>
          <a:p>
            <a:pPr algn="ctr"/>
            <a:r>
              <a:rPr lang="en-IT" dirty="0"/>
              <a:t>These three genres combined account for a percentage in Sales around 65-75%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439463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F23D-A3AB-0A3F-C83B-2879D4B31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4D6625-B902-9B3B-1B2E-15829EC2D051}"/>
              </a:ext>
            </a:extLst>
          </p:cNvPr>
          <p:cNvSpPr txBox="1"/>
          <p:nvPr/>
        </p:nvSpPr>
        <p:spPr>
          <a:xfrm>
            <a:off x="3046971" y="155145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T" sz="1800" b="1" dirty="0">
                <a:highlight>
                  <a:srgbClr val="FFFF00"/>
                </a:highlight>
                <a:latin typeface="Eurostile" panose="020B0504020202050204" pitchFamily="34" charset="77"/>
              </a:rPr>
              <a:t>- Regional Markets Genres Sales Proportions -</a:t>
            </a:r>
            <a:endParaRPr lang="en-I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164B9E-567A-3AF3-91F9-F426DFA817CD}"/>
              </a:ext>
            </a:extLst>
          </p:cNvPr>
          <p:cNvSpPr txBox="1"/>
          <p:nvPr/>
        </p:nvSpPr>
        <p:spPr>
          <a:xfrm>
            <a:off x="818634" y="5271860"/>
            <a:ext cx="105547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/>
              <a:t>Japanese Market shows very different Genres Sales Trends compared to every other Market Worldwide</a:t>
            </a:r>
          </a:p>
          <a:p>
            <a:pPr algn="ctr"/>
            <a:endParaRPr lang="en-IT" dirty="0"/>
          </a:p>
          <a:p>
            <a:pPr algn="ctr"/>
            <a:r>
              <a:rPr lang="en-IT" dirty="0"/>
              <a:t>Action is by far the most popular Genre with 42% Sales</a:t>
            </a:r>
          </a:p>
          <a:p>
            <a:pPr algn="ctr"/>
            <a:endParaRPr lang="en-IT" dirty="0"/>
          </a:p>
          <a:p>
            <a:pPr algn="ctr"/>
            <a:r>
              <a:rPr lang="en-IT" dirty="0"/>
              <a:t>Role-Playing is the following most popular Genre with 26% Sales</a:t>
            </a:r>
          </a:p>
          <a:p>
            <a:pPr algn="ctr"/>
            <a:endParaRPr lang="en-IT" dirty="0"/>
          </a:p>
          <a:p>
            <a:pPr algn="ctr"/>
            <a:endParaRPr lang="en-IT" dirty="0"/>
          </a:p>
          <a:p>
            <a:endParaRPr lang="en-IT" dirty="0"/>
          </a:p>
        </p:txBody>
      </p:sp>
      <p:pic>
        <p:nvPicPr>
          <p:cNvPr id="3" name="Picture 2" descr="A graph with green bars&#10;&#10;AI-generated content may be incorrect.">
            <a:extLst>
              <a:ext uri="{FF2B5EF4-FFF2-40B4-BE49-F238E27FC236}">
                <a16:creationId xmlns:a16="http://schemas.microsoft.com/office/drawing/2014/main" id="{037F58DD-F7A5-65EE-5239-6781F34C1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403" y="814253"/>
            <a:ext cx="5327191" cy="416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89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8E754-FA56-8265-6A70-A48051087F5E}"/>
              </a:ext>
            </a:extLst>
          </p:cNvPr>
          <p:cNvSpPr txBox="1"/>
          <p:nvPr/>
        </p:nvSpPr>
        <p:spPr>
          <a:xfrm>
            <a:off x="630936" y="1221512"/>
            <a:ext cx="3429000" cy="945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General Updated Videogames Sales Trend</a:t>
            </a:r>
            <a:endParaRPr lang="en-US" sz="2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312D01-B8FC-717A-5792-DB7E54E75FA0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Is very important to notice a steep decline in overall Sales trend over the last five years.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From the year 2011 onwards, the Sales have decreased with huge Sales loss especially in the two major Markets, North America and Europe.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This surprising insight should require further analysis, so we can better understand the reasons behind this important decline.</a:t>
            </a:r>
          </a:p>
        </p:txBody>
      </p:sp>
      <p:pic>
        <p:nvPicPr>
          <p:cNvPr id="4" name="Picture 3" descr="A graph of sales trend&#10;&#10;AI-generated content may be incorrect.">
            <a:extLst>
              <a:ext uri="{FF2B5EF4-FFF2-40B4-BE49-F238E27FC236}">
                <a16:creationId xmlns:a16="http://schemas.microsoft.com/office/drawing/2014/main" id="{14F7C0CC-2F3B-615E-F8B2-2EAC95C6D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047217"/>
            <a:ext cx="6903720" cy="476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908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1A60A0-3153-E046-955C-6831D857B3F4}"/>
              </a:ext>
            </a:extLst>
          </p:cNvPr>
          <p:cNvSpPr txBox="1"/>
          <p:nvPr/>
        </p:nvSpPr>
        <p:spPr>
          <a:xfrm>
            <a:off x="1116227" y="1562258"/>
            <a:ext cx="995954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600" dirty="0"/>
              <a:t>As outlined in Slide 2, the Regional Market Proportions have changed during the years, with the year 2016 showing the European Market having surpassed North America in Sales Figures.</a:t>
            </a:r>
          </a:p>
          <a:p>
            <a:endParaRPr lang="en-IT" sz="1600" dirty="0"/>
          </a:p>
          <a:p>
            <a:r>
              <a:rPr lang="en-IT" sz="1600" dirty="0"/>
              <a:t>Despite this findings both the American and European Market have the largest sales worldwide, so an equal marketing budget </a:t>
            </a:r>
            <a:r>
              <a:rPr lang="en-GB" sz="1600" dirty="0"/>
              <a:t>I</a:t>
            </a:r>
            <a:r>
              <a:rPr lang="en-IT" sz="1600" dirty="0"/>
              <a:t> think can be considered between the two markets.</a:t>
            </a:r>
          </a:p>
          <a:p>
            <a:endParaRPr lang="en-IT" sz="1600" dirty="0"/>
          </a:p>
          <a:p>
            <a:r>
              <a:rPr lang="en-IT" sz="1600" dirty="0"/>
              <a:t>Is also important to notice an overall steep decline in sales in every markets in the last few years (as shown in Slide 7).</a:t>
            </a:r>
          </a:p>
          <a:p>
            <a:endParaRPr lang="en-IT" sz="1600" dirty="0"/>
          </a:p>
          <a:p>
            <a:r>
              <a:rPr lang="en-IT" sz="1600" dirty="0"/>
              <a:t>Another important finding is that shooter games have an higher average sales revenue compared to other genres. (Slide 4)</a:t>
            </a:r>
          </a:p>
          <a:p>
            <a:endParaRPr lang="en-IT" sz="1600" dirty="0"/>
          </a:p>
          <a:p>
            <a:r>
              <a:rPr lang="en-IT" sz="1600" dirty="0"/>
              <a:t>Playstation4 is by far the platform with most sales worldwide. (Slide 3)</a:t>
            </a:r>
          </a:p>
          <a:p>
            <a:endParaRPr lang="en-IT" sz="1600" dirty="0"/>
          </a:p>
          <a:p>
            <a:r>
              <a:rPr lang="en-IT" sz="1600" dirty="0"/>
              <a:t>Shooter, Action and Sports are the genres with the highest sales in every markets; apart from the Japanese Market where Action and Role-Playing makes the most revenue (Slide 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1B01BE-31B2-23A9-3231-CAF421734994}"/>
              </a:ext>
            </a:extLst>
          </p:cNvPr>
          <p:cNvSpPr txBox="1"/>
          <p:nvPr/>
        </p:nvSpPr>
        <p:spPr>
          <a:xfrm>
            <a:off x="3046971" y="315782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T" sz="2400" b="1" dirty="0">
                <a:highlight>
                  <a:srgbClr val="FFFF00"/>
                </a:highlight>
                <a:latin typeface="Eurostile" panose="020B0504020202050204" pitchFamily="34" charset="77"/>
              </a:rPr>
              <a:t>- Final Conclusions -</a:t>
            </a:r>
            <a:endParaRPr lang="en-IT" sz="2400" dirty="0"/>
          </a:p>
        </p:txBody>
      </p:sp>
    </p:spTree>
    <p:extLst>
      <p:ext uri="{BB962C8B-B14F-4D97-AF65-F5344CB8AC3E}">
        <p14:creationId xmlns:p14="http://schemas.microsoft.com/office/powerpoint/2010/main" val="3610167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633</Words>
  <Application>Microsoft Macintosh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Eurostile</vt:lpstr>
      <vt:lpstr>Office Theme</vt:lpstr>
      <vt:lpstr>GameCo Sales Data Analysis</vt:lpstr>
      <vt:lpstr>PowerPoint Presentation</vt:lpstr>
      <vt:lpstr>- Year 2016 Sales Insights -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 Lanzuise</dc:creator>
  <cp:lastModifiedBy>Elia Lanzuise</cp:lastModifiedBy>
  <cp:revision>32</cp:revision>
  <dcterms:created xsi:type="dcterms:W3CDTF">2025-03-03T14:39:24Z</dcterms:created>
  <dcterms:modified xsi:type="dcterms:W3CDTF">2025-03-05T07:03:06Z</dcterms:modified>
</cp:coreProperties>
</file>